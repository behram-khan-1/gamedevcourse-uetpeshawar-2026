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9" r:id="rId3"/>
    <p:sldId id="294" r:id="rId4"/>
    <p:sldId id="328" r:id="rId5"/>
    <p:sldId id="334" r:id="rId6"/>
    <p:sldId id="329" r:id="rId7"/>
    <p:sldId id="335" r:id="rId8"/>
    <p:sldId id="336" r:id="rId9"/>
    <p:sldId id="330" r:id="rId10"/>
    <p:sldId id="337" r:id="rId11"/>
    <p:sldId id="338" r:id="rId12"/>
    <p:sldId id="339" r:id="rId13"/>
    <p:sldId id="340" r:id="rId14"/>
    <p:sldId id="331" r:id="rId15"/>
    <p:sldId id="332" r:id="rId16"/>
    <p:sldId id="341" r:id="rId17"/>
    <p:sldId id="342" r:id="rId18"/>
    <p:sldId id="333" r:id="rId19"/>
    <p:sldId id="289" r:id="rId20"/>
  </p:sldIdLst>
  <p:sldSz cx="12192000" cy="6858000"/>
  <p:notesSz cx="6858000" cy="9144000"/>
  <p:embeddedFontLst>
    <p:embeddedFont>
      <p:font typeface="Play"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5974" autoAdjust="0"/>
  </p:normalViewPr>
  <p:slideViewPr>
    <p:cSldViewPr snapToGrid="0">
      <p:cViewPr varScale="1">
        <p:scale>
          <a:sx n="60" d="100"/>
          <a:sy n="60" d="100"/>
        </p:scale>
        <p:origin x="908" y="48"/>
      </p:cViewPr>
      <p:guideLst/>
    </p:cSldViewPr>
  </p:slideViewPr>
  <p:outlineViewPr>
    <p:cViewPr>
      <p:scale>
        <a:sx n="33" d="100"/>
        <a:sy n="33" d="100"/>
      </p:scale>
      <p:origin x="0" y="-13926"/>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67EB007A-4BE2-1796-C6B2-E542D25025B8}"/>
            </a:ext>
          </a:extLst>
        </p:cNvPr>
        <p:cNvGrpSpPr/>
        <p:nvPr/>
      </p:nvGrpSpPr>
      <p:grpSpPr>
        <a:xfrm>
          <a:off x="0" y="0"/>
          <a:ext cx="0" cy="0"/>
          <a:chOff x="0" y="0"/>
          <a:chExt cx="0" cy="0"/>
        </a:xfrm>
      </p:grpSpPr>
      <p:sp>
        <p:nvSpPr>
          <p:cNvPr id="110" name="Google Shape;110;p5:notes">
            <a:extLst>
              <a:ext uri="{FF2B5EF4-FFF2-40B4-BE49-F238E27FC236}">
                <a16:creationId xmlns:a16="http://schemas.microsoft.com/office/drawing/2014/main" id="{E71018EB-F5A4-7F34-7BEB-02B1AB04075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5:notes">
            <a:extLst>
              <a:ext uri="{FF2B5EF4-FFF2-40B4-BE49-F238E27FC236}">
                <a16:creationId xmlns:a16="http://schemas.microsoft.com/office/drawing/2014/main" id="{EB10EED4-D685-6116-BEDE-5B539F8DC8C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b="1"/>
              <a:t>STR:</a:t>
            </a:r>
            <a:r>
              <a:rPr lang="en-US"/>
              <a:t> Store a value to memory. </a:t>
            </a:r>
            <a:endParaRPr/>
          </a:p>
          <a:p>
            <a:pPr marL="0" marR="0" lvl="0" indent="0" algn="l" rtl="0">
              <a:lnSpc>
                <a:spcPct val="100000"/>
              </a:lnSpc>
              <a:spcBef>
                <a:spcPts val="0"/>
              </a:spcBef>
              <a:spcAft>
                <a:spcPts val="0"/>
              </a:spcAft>
              <a:buClr>
                <a:schemeClr val="dk1"/>
              </a:buClr>
              <a:buSzPts val="1200"/>
              <a:buFont typeface="Arial"/>
              <a:buNone/>
            </a:pPr>
            <a:r>
              <a:rPr lang="en-US" b="1"/>
              <a:t>ADD:</a:t>
            </a:r>
            <a:r>
              <a:rPr lang="en-US"/>
              <a:t> Add two values. </a:t>
            </a:r>
            <a:endParaRPr/>
          </a:p>
          <a:p>
            <a:pPr marL="0" marR="0" lvl="0" indent="0" algn="l" rtl="0">
              <a:lnSpc>
                <a:spcPct val="100000"/>
              </a:lnSpc>
              <a:spcBef>
                <a:spcPts val="0"/>
              </a:spcBef>
              <a:spcAft>
                <a:spcPts val="0"/>
              </a:spcAft>
              <a:buClr>
                <a:schemeClr val="dk1"/>
              </a:buClr>
              <a:buSzPts val="1200"/>
              <a:buFont typeface="Arial"/>
              <a:buNone/>
            </a:pPr>
            <a:r>
              <a:rPr lang="en-US" b="1"/>
              <a:t>SUB:</a:t>
            </a:r>
            <a:r>
              <a:rPr lang="en-US"/>
              <a:t> Subtract one value from another. </a:t>
            </a:r>
            <a:endParaRPr/>
          </a:p>
          <a:p>
            <a:pPr marL="0" marR="0" lvl="0" indent="0" algn="l" rtl="0">
              <a:lnSpc>
                <a:spcPct val="100000"/>
              </a:lnSpc>
              <a:spcBef>
                <a:spcPts val="0"/>
              </a:spcBef>
              <a:spcAft>
                <a:spcPts val="0"/>
              </a:spcAft>
              <a:buClr>
                <a:schemeClr val="dk1"/>
              </a:buClr>
              <a:buSzPts val="1200"/>
              <a:buFont typeface="Arial"/>
              <a:buNone/>
            </a:pPr>
            <a:r>
              <a:rPr lang="en-US" b="1"/>
              <a:t>MOV:</a:t>
            </a:r>
            <a:r>
              <a:rPr lang="en-US"/>
              <a:t> Move data from one location to another. </a:t>
            </a:r>
            <a:endParaRPr/>
          </a:p>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64EDF38-0E91-A38E-9E97-11F33DD0040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574924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5DAAE416-9B50-1F4E-7495-FCFB08BC28CA}"/>
            </a:ext>
          </a:extLst>
        </p:cNvPr>
        <p:cNvGrpSpPr/>
        <p:nvPr/>
      </p:nvGrpSpPr>
      <p:grpSpPr>
        <a:xfrm>
          <a:off x="0" y="0"/>
          <a:ext cx="0" cy="0"/>
          <a:chOff x="0" y="0"/>
          <a:chExt cx="0" cy="0"/>
        </a:xfrm>
      </p:grpSpPr>
      <p:sp>
        <p:nvSpPr>
          <p:cNvPr id="110" name="Google Shape;110;p5:notes">
            <a:extLst>
              <a:ext uri="{FF2B5EF4-FFF2-40B4-BE49-F238E27FC236}">
                <a16:creationId xmlns:a16="http://schemas.microsoft.com/office/drawing/2014/main" id="{856E7080-9EDC-8477-4E76-709FCAC917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5:notes">
            <a:extLst>
              <a:ext uri="{FF2B5EF4-FFF2-40B4-BE49-F238E27FC236}">
                <a16:creationId xmlns:a16="http://schemas.microsoft.com/office/drawing/2014/main" id="{A6D4ABD1-F384-738C-6AF6-BF5A1C0C88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b="1"/>
              <a:t>STR:</a:t>
            </a:r>
            <a:r>
              <a:rPr lang="en-US"/>
              <a:t> Store a value to memory. </a:t>
            </a:r>
            <a:endParaRPr/>
          </a:p>
          <a:p>
            <a:pPr marL="0" marR="0" lvl="0" indent="0" algn="l" rtl="0">
              <a:lnSpc>
                <a:spcPct val="100000"/>
              </a:lnSpc>
              <a:spcBef>
                <a:spcPts val="0"/>
              </a:spcBef>
              <a:spcAft>
                <a:spcPts val="0"/>
              </a:spcAft>
              <a:buClr>
                <a:schemeClr val="dk1"/>
              </a:buClr>
              <a:buSzPts val="1200"/>
              <a:buFont typeface="Arial"/>
              <a:buNone/>
            </a:pPr>
            <a:r>
              <a:rPr lang="en-US" b="1"/>
              <a:t>ADD:</a:t>
            </a:r>
            <a:r>
              <a:rPr lang="en-US"/>
              <a:t> Add two values. </a:t>
            </a:r>
            <a:endParaRPr/>
          </a:p>
          <a:p>
            <a:pPr marL="0" marR="0" lvl="0" indent="0" algn="l" rtl="0">
              <a:lnSpc>
                <a:spcPct val="100000"/>
              </a:lnSpc>
              <a:spcBef>
                <a:spcPts val="0"/>
              </a:spcBef>
              <a:spcAft>
                <a:spcPts val="0"/>
              </a:spcAft>
              <a:buClr>
                <a:schemeClr val="dk1"/>
              </a:buClr>
              <a:buSzPts val="1200"/>
              <a:buFont typeface="Arial"/>
              <a:buNone/>
            </a:pPr>
            <a:r>
              <a:rPr lang="en-US" b="1"/>
              <a:t>SUB:</a:t>
            </a:r>
            <a:r>
              <a:rPr lang="en-US"/>
              <a:t> Subtract one value from another. </a:t>
            </a:r>
            <a:endParaRPr/>
          </a:p>
          <a:p>
            <a:pPr marL="0" marR="0" lvl="0" indent="0" algn="l" rtl="0">
              <a:lnSpc>
                <a:spcPct val="100000"/>
              </a:lnSpc>
              <a:spcBef>
                <a:spcPts val="0"/>
              </a:spcBef>
              <a:spcAft>
                <a:spcPts val="0"/>
              </a:spcAft>
              <a:buClr>
                <a:schemeClr val="dk1"/>
              </a:buClr>
              <a:buSzPts val="1200"/>
              <a:buFont typeface="Arial"/>
              <a:buNone/>
            </a:pPr>
            <a:r>
              <a:rPr lang="en-US" b="1"/>
              <a:t>MOV:</a:t>
            </a:r>
            <a:r>
              <a:rPr lang="en-US"/>
              <a:t> Move data from one location to another. </a:t>
            </a:r>
            <a:endParaRPr/>
          </a:p>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DCF91CD5-725C-F7B6-4717-21BF67FE0F9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214704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51D127AA-06CC-13F0-35E1-27CBB8B9CF06}"/>
            </a:ext>
          </a:extLst>
        </p:cNvPr>
        <p:cNvGrpSpPr/>
        <p:nvPr/>
      </p:nvGrpSpPr>
      <p:grpSpPr>
        <a:xfrm>
          <a:off x="0" y="0"/>
          <a:ext cx="0" cy="0"/>
          <a:chOff x="0" y="0"/>
          <a:chExt cx="0" cy="0"/>
        </a:xfrm>
      </p:grpSpPr>
      <p:sp>
        <p:nvSpPr>
          <p:cNvPr id="110" name="Google Shape;110;p5:notes">
            <a:extLst>
              <a:ext uri="{FF2B5EF4-FFF2-40B4-BE49-F238E27FC236}">
                <a16:creationId xmlns:a16="http://schemas.microsoft.com/office/drawing/2014/main" id="{5A9E02A6-FDDB-110A-EBFF-263C720DBD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5:notes">
            <a:extLst>
              <a:ext uri="{FF2B5EF4-FFF2-40B4-BE49-F238E27FC236}">
                <a16:creationId xmlns:a16="http://schemas.microsoft.com/office/drawing/2014/main" id="{98EB06D4-EA86-49C8-F83A-2AB48CF877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b="1"/>
              <a:t>STR:</a:t>
            </a:r>
            <a:r>
              <a:rPr lang="en-US"/>
              <a:t> Store a value to memory. </a:t>
            </a:r>
            <a:endParaRPr/>
          </a:p>
          <a:p>
            <a:pPr marL="0" marR="0" lvl="0" indent="0" algn="l" rtl="0">
              <a:lnSpc>
                <a:spcPct val="100000"/>
              </a:lnSpc>
              <a:spcBef>
                <a:spcPts val="0"/>
              </a:spcBef>
              <a:spcAft>
                <a:spcPts val="0"/>
              </a:spcAft>
              <a:buClr>
                <a:schemeClr val="dk1"/>
              </a:buClr>
              <a:buSzPts val="1200"/>
              <a:buFont typeface="Arial"/>
              <a:buNone/>
            </a:pPr>
            <a:r>
              <a:rPr lang="en-US" b="1"/>
              <a:t>ADD:</a:t>
            </a:r>
            <a:r>
              <a:rPr lang="en-US"/>
              <a:t> Add two values. </a:t>
            </a:r>
            <a:endParaRPr/>
          </a:p>
          <a:p>
            <a:pPr marL="0" marR="0" lvl="0" indent="0" algn="l" rtl="0">
              <a:lnSpc>
                <a:spcPct val="100000"/>
              </a:lnSpc>
              <a:spcBef>
                <a:spcPts val="0"/>
              </a:spcBef>
              <a:spcAft>
                <a:spcPts val="0"/>
              </a:spcAft>
              <a:buClr>
                <a:schemeClr val="dk1"/>
              </a:buClr>
              <a:buSzPts val="1200"/>
              <a:buFont typeface="Arial"/>
              <a:buNone/>
            </a:pPr>
            <a:r>
              <a:rPr lang="en-US" b="1"/>
              <a:t>SUB:</a:t>
            </a:r>
            <a:r>
              <a:rPr lang="en-US"/>
              <a:t> Subtract one value from another. </a:t>
            </a:r>
            <a:endParaRPr/>
          </a:p>
          <a:p>
            <a:pPr marL="0" marR="0" lvl="0" indent="0" algn="l" rtl="0">
              <a:lnSpc>
                <a:spcPct val="100000"/>
              </a:lnSpc>
              <a:spcBef>
                <a:spcPts val="0"/>
              </a:spcBef>
              <a:spcAft>
                <a:spcPts val="0"/>
              </a:spcAft>
              <a:buClr>
                <a:schemeClr val="dk1"/>
              </a:buClr>
              <a:buSzPts val="1200"/>
              <a:buFont typeface="Arial"/>
              <a:buNone/>
            </a:pPr>
            <a:r>
              <a:rPr lang="en-US" b="1"/>
              <a:t>MOV:</a:t>
            </a:r>
            <a:r>
              <a:rPr lang="en-US"/>
              <a:t> Move data from one location to another. </a:t>
            </a:r>
            <a:endParaRPr/>
          </a:p>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70255E8F-090B-BC7E-7825-B10C3D1E134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58064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53059D0C-B472-524F-F584-E514418343AD}"/>
            </a:ext>
          </a:extLst>
        </p:cNvPr>
        <p:cNvGrpSpPr/>
        <p:nvPr/>
      </p:nvGrpSpPr>
      <p:grpSpPr>
        <a:xfrm>
          <a:off x="0" y="0"/>
          <a:ext cx="0" cy="0"/>
          <a:chOff x="0" y="0"/>
          <a:chExt cx="0" cy="0"/>
        </a:xfrm>
      </p:grpSpPr>
      <p:sp>
        <p:nvSpPr>
          <p:cNvPr id="110" name="Google Shape;110;p5:notes">
            <a:extLst>
              <a:ext uri="{FF2B5EF4-FFF2-40B4-BE49-F238E27FC236}">
                <a16:creationId xmlns:a16="http://schemas.microsoft.com/office/drawing/2014/main" id="{BCF7E140-184B-DC1A-339F-1A051F4391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5:notes">
            <a:extLst>
              <a:ext uri="{FF2B5EF4-FFF2-40B4-BE49-F238E27FC236}">
                <a16:creationId xmlns:a16="http://schemas.microsoft.com/office/drawing/2014/main" id="{8BCDBC7C-7890-956E-A226-18CBF0FD76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b="1"/>
              <a:t>STR:</a:t>
            </a:r>
            <a:r>
              <a:rPr lang="en-US"/>
              <a:t> Store a value to memory. </a:t>
            </a:r>
            <a:endParaRPr/>
          </a:p>
          <a:p>
            <a:pPr marL="0" marR="0" lvl="0" indent="0" algn="l" rtl="0">
              <a:lnSpc>
                <a:spcPct val="100000"/>
              </a:lnSpc>
              <a:spcBef>
                <a:spcPts val="0"/>
              </a:spcBef>
              <a:spcAft>
                <a:spcPts val="0"/>
              </a:spcAft>
              <a:buClr>
                <a:schemeClr val="dk1"/>
              </a:buClr>
              <a:buSzPts val="1200"/>
              <a:buFont typeface="Arial"/>
              <a:buNone/>
            </a:pPr>
            <a:r>
              <a:rPr lang="en-US" b="1"/>
              <a:t>ADD:</a:t>
            </a:r>
            <a:r>
              <a:rPr lang="en-US"/>
              <a:t> Add two values. </a:t>
            </a:r>
            <a:endParaRPr/>
          </a:p>
          <a:p>
            <a:pPr marL="0" marR="0" lvl="0" indent="0" algn="l" rtl="0">
              <a:lnSpc>
                <a:spcPct val="100000"/>
              </a:lnSpc>
              <a:spcBef>
                <a:spcPts val="0"/>
              </a:spcBef>
              <a:spcAft>
                <a:spcPts val="0"/>
              </a:spcAft>
              <a:buClr>
                <a:schemeClr val="dk1"/>
              </a:buClr>
              <a:buSzPts val="1200"/>
              <a:buFont typeface="Arial"/>
              <a:buNone/>
            </a:pPr>
            <a:r>
              <a:rPr lang="en-US" b="1"/>
              <a:t>SUB:</a:t>
            </a:r>
            <a:r>
              <a:rPr lang="en-US"/>
              <a:t> Subtract one value from another. </a:t>
            </a:r>
            <a:endParaRPr/>
          </a:p>
          <a:p>
            <a:pPr marL="0" marR="0" lvl="0" indent="0" algn="l" rtl="0">
              <a:lnSpc>
                <a:spcPct val="100000"/>
              </a:lnSpc>
              <a:spcBef>
                <a:spcPts val="0"/>
              </a:spcBef>
              <a:spcAft>
                <a:spcPts val="0"/>
              </a:spcAft>
              <a:buClr>
                <a:schemeClr val="dk1"/>
              </a:buClr>
              <a:buSzPts val="1200"/>
              <a:buFont typeface="Arial"/>
              <a:buNone/>
            </a:pPr>
            <a:r>
              <a:rPr lang="en-US" b="1"/>
              <a:t>MOV:</a:t>
            </a:r>
            <a:r>
              <a:rPr lang="en-US"/>
              <a:t> Move data from one location to another. </a:t>
            </a:r>
            <a:endParaRPr/>
          </a:p>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91A68E5-5A8E-401B-1436-9BC9FDEDD62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54202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3583B7BC-9AAF-0961-D95E-CEB90B8EE266}"/>
            </a:ext>
          </a:extLst>
        </p:cNvPr>
        <p:cNvGrpSpPr/>
        <p:nvPr/>
      </p:nvGrpSpPr>
      <p:grpSpPr>
        <a:xfrm>
          <a:off x="0" y="0"/>
          <a:ext cx="0" cy="0"/>
          <a:chOff x="0" y="0"/>
          <a:chExt cx="0" cy="0"/>
        </a:xfrm>
      </p:grpSpPr>
      <p:sp>
        <p:nvSpPr>
          <p:cNvPr id="110" name="Google Shape;110;p5:notes">
            <a:extLst>
              <a:ext uri="{FF2B5EF4-FFF2-40B4-BE49-F238E27FC236}">
                <a16:creationId xmlns:a16="http://schemas.microsoft.com/office/drawing/2014/main" id="{153F7372-0132-8B5E-A1BF-0E6ABE96322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5:notes">
            <a:extLst>
              <a:ext uri="{FF2B5EF4-FFF2-40B4-BE49-F238E27FC236}">
                <a16:creationId xmlns:a16="http://schemas.microsoft.com/office/drawing/2014/main" id="{5A1B13CC-6389-ED98-DA79-0CC269368C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b="1"/>
              <a:t>STR:</a:t>
            </a:r>
            <a:r>
              <a:rPr lang="en-US"/>
              <a:t> Store a value to memory. </a:t>
            </a:r>
            <a:endParaRPr/>
          </a:p>
          <a:p>
            <a:pPr marL="0" marR="0" lvl="0" indent="0" algn="l" rtl="0">
              <a:lnSpc>
                <a:spcPct val="100000"/>
              </a:lnSpc>
              <a:spcBef>
                <a:spcPts val="0"/>
              </a:spcBef>
              <a:spcAft>
                <a:spcPts val="0"/>
              </a:spcAft>
              <a:buClr>
                <a:schemeClr val="dk1"/>
              </a:buClr>
              <a:buSzPts val="1200"/>
              <a:buFont typeface="Arial"/>
              <a:buNone/>
            </a:pPr>
            <a:r>
              <a:rPr lang="en-US" b="1"/>
              <a:t>ADD:</a:t>
            </a:r>
            <a:r>
              <a:rPr lang="en-US"/>
              <a:t> Add two values. </a:t>
            </a:r>
            <a:endParaRPr/>
          </a:p>
          <a:p>
            <a:pPr marL="0" marR="0" lvl="0" indent="0" algn="l" rtl="0">
              <a:lnSpc>
                <a:spcPct val="100000"/>
              </a:lnSpc>
              <a:spcBef>
                <a:spcPts val="0"/>
              </a:spcBef>
              <a:spcAft>
                <a:spcPts val="0"/>
              </a:spcAft>
              <a:buClr>
                <a:schemeClr val="dk1"/>
              </a:buClr>
              <a:buSzPts val="1200"/>
              <a:buFont typeface="Arial"/>
              <a:buNone/>
            </a:pPr>
            <a:r>
              <a:rPr lang="en-US" b="1"/>
              <a:t>SUB:</a:t>
            </a:r>
            <a:r>
              <a:rPr lang="en-US"/>
              <a:t> Subtract one value from another. </a:t>
            </a:r>
            <a:endParaRPr/>
          </a:p>
          <a:p>
            <a:pPr marL="0" marR="0" lvl="0" indent="0" algn="l" rtl="0">
              <a:lnSpc>
                <a:spcPct val="100000"/>
              </a:lnSpc>
              <a:spcBef>
                <a:spcPts val="0"/>
              </a:spcBef>
              <a:spcAft>
                <a:spcPts val="0"/>
              </a:spcAft>
              <a:buClr>
                <a:schemeClr val="dk1"/>
              </a:buClr>
              <a:buSzPts val="1200"/>
              <a:buFont typeface="Arial"/>
              <a:buNone/>
            </a:pPr>
            <a:r>
              <a:rPr lang="en-US" b="1"/>
              <a:t>MOV:</a:t>
            </a:r>
            <a:r>
              <a:rPr lang="en-US"/>
              <a:t> Move data from one location to another. </a:t>
            </a:r>
            <a:endParaRPr/>
          </a:p>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6F6F396D-CD60-C67F-1CF0-43D91182AFF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083586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7157D36-6381-BDA1-E168-D0DE1E9C9F96}"/>
            </a:ext>
          </a:extLst>
        </p:cNvPr>
        <p:cNvGrpSpPr/>
        <p:nvPr/>
      </p:nvGrpSpPr>
      <p:grpSpPr>
        <a:xfrm>
          <a:off x="0" y="0"/>
          <a:ext cx="0" cy="0"/>
          <a:chOff x="0" y="0"/>
          <a:chExt cx="0" cy="0"/>
        </a:xfrm>
      </p:grpSpPr>
      <p:sp>
        <p:nvSpPr>
          <p:cNvPr id="110" name="Google Shape;110;p5:notes">
            <a:extLst>
              <a:ext uri="{FF2B5EF4-FFF2-40B4-BE49-F238E27FC236}">
                <a16:creationId xmlns:a16="http://schemas.microsoft.com/office/drawing/2014/main" id="{FAFDDC1C-6B94-A000-0FE5-742F5C5743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5:notes">
            <a:extLst>
              <a:ext uri="{FF2B5EF4-FFF2-40B4-BE49-F238E27FC236}">
                <a16:creationId xmlns:a16="http://schemas.microsoft.com/office/drawing/2014/main" id="{F6FD795F-A73A-844B-6003-94A0B09FD5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b="1"/>
              <a:t>STR:</a:t>
            </a:r>
            <a:r>
              <a:rPr lang="en-US"/>
              <a:t> Store a value to memory. </a:t>
            </a:r>
            <a:endParaRPr/>
          </a:p>
          <a:p>
            <a:pPr marL="0" marR="0" lvl="0" indent="0" algn="l" rtl="0">
              <a:lnSpc>
                <a:spcPct val="100000"/>
              </a:lnSpc>
              <a:spcBef>
                <a:spcPts val="0"/>
              </a:spcBef>
              <a:spcAft>
                <a:spcPts val="0"/>
              </a:spcAft>
              <a:buClr>
                <a:schemeClr val="dk1"/>
              </a:buClr>
              <a:buSzPts val="1200"/>
              <a:buFont typeface="Arial"/>
              <a:buNone/>
            </a:pPr>
            <a:r>
              <a:rPr lang="en-US" b="1"/>
              <a:t>ADD:</a:t>
            </a:r>
            <a:r>
              <a:rPr lang="en-US"/>
              <a:t> Add two values. </a:t>
            </a:r>
            <a:endParaRPr/>
          </a:p>
          <a:p>
            <a:pPr marL="0" marR="0" lvl="0" indent="0" algn="l" rtl="0">
              <a:lnSpc>
                <a:spcPct val="100000"/>
              </a:lnSpc>
              <a:spcBef>
                <a:spcPts val="0"/>
              </a:spcBef>
              <a:spcAft>
                <a:spcPts val="0"/>
              </a:spcAft>
              <a:buClr>
                <a:schemeClr val="dk1"/>
              </a:buClr>
              <a:buSzPts val="1200"/>
              <a:buFont typeface="Arial"/>
              <a:buNone/>
            </a:pPr>
            <a:r>
              <a:rPr lang="en-US" b="1"/>
              <a:t>SUB:</a:t>
            </a:r>
            <a:r>
              <a:rPr lang="en-US"/>
              <a:t> Subtract one value from another. </a:t>
            </a:r>
            <a:endParaRPr/>
          </a:p>
          <a:p>
            <a:pPr marL="0" marR="0" lvl="0" indent="0" algn="l" rtl="0">
              <a:lnSpc>
                <a:spcPct val="100000"/>
              </a:lnSpc>
              <a:spcBef>
                <a:spcPts val="0"/>
              </a:spcBef>
              <a:spcAft>
                <a:spcPts val="0"/>
              </a:spcAft>
              <a:buClr>
                <a:schemeClr val="dk1"/>
              </a:buClr>
              <a:buSzPts val="1200"/>
              <a:buFont typeface="Arial"/>
              <a:buNone/>
            </a:pPr>
            <a:r>
              <a:rPr lang="en-US" b="1"/>
              <a:t>MOV:</a:t>
            </a:r>
            <a:r>
              <a:rPr lang="en-US"/>
              <a:t> Move data from one location to another. </a:t>
            </a:r>
            <a:endParaRPr/>
          </a:p>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DF03E9D8-F5D2-339F-2C88-181A7394444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843871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5AFFDFF1-600B-6DC9-FFAE-2634748EF857}"/>
            </a:ext>
          </a:extLst>
        </p:cNvPr>
        <p:cNvGrpSpPr/>
        <p:nvPr/>
      </p:nvGrpSpPr>
      <p:grpSpPr>
        <a:xfrm>
          <a:off x="0" y="0"/>
          <a:ext cx="0" cy="0"/>
          <a:chOff x="0" y="0"/>
          <a:chExt cx="0" cy="0"/>
        </a:xfrm>
      </p:grpSpPr>
      <p:sp>
        <p:nvSpPr>
          <p:cNvPr id="110" name="Google Shape;110;p5:notes">
            <a:extLst>
              <a:ext uri="{FF2B5EF4-FFF2-40B4-BE49-F238E27FC236}">
                <a16:creationId xmlns:a16="http://schemas.microsoft.com/office/drawing/2014/main" id="{35E03FA7-92F3-8A50-A11B-4F1890C11E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5:notes">
            <a:extLst>
              <a:ext uri="{FF2B5EF4-FFF2-40B4-BE49-F238E27FC236}">
                <a16:creationId xmlns:a16="http://schemas.microsoft.com/office/drawing/2014/main" id="{A089DB64-1CE2-EEAE-3A34-0FF17EF30D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b="1"/>
              <a:t>STR:</a:t>
            </a:r>
            <a:r>
              <a:rPr lang="en-US"/>
              <a:t> Store a value to memory. </a:t>
            </a:r>
            <a:endParaRPr/>
          </a:p>
          <a:p>
            <a:pPr marL="0" marR="0" lvl="0" indent="0" algn="l" rtl="0">
              <a:lnSpc>
                <a:spcPct val="100000"/>
              </a:lnSpc>
              <a:spcBef>
                <a:spcPts val="0"/>
              </a:spcBef>
              <a:spcAft>
                <a:spcPts val="0"/>
              </a:spcAft>
              <a:buClr>
                <a:schemeClr val="dk1"/>
              </a:buClr>
              <a:buSzPts val="1200"/>
              <a:buFont typeface="Arial"/>
              <a:buNone/>
            </a:pPr>
            <a:r>
              <a:rPr lang="en-US" b="1"/>
              <a:t>ADD:</a:t>
            </a:r>
            <a:r>
              <a:rPr lang="en-US"/>
              <a:t> Add two values. </a:t>
            </a:r>
            <a:endParaRPr/>
          </a:p>
          <a:p>
            <a:pPr marL="0" marR="0" lvl="0" indent="0" algn="l" rtl="0">
              <a:lnSpc>
                <a:spcPct val="100000"/>
              </a:lnSpc>
              <a:spcBef>
                <a:spcPts val="0"/>
              </a:spcBef>
              <a:spcAft>
                <a:spcPts val="0"/>
              </a:spcAft>
              <a:buClr>
                <a:schemeClr val="dk1"/>
              </a:buClr>
              <a:buSzPts val="1200"/>
              <a:buFont typeface="Arial"/>
              <a:buNone/>
            </a:pPr>
            <a:r>
              <a:rPr lang="en-US" b="1"/>
              <a:t>SUB:</a:t>
            </a:r>
            <a:r>
              <a:rPr lang="en-US"/>
              <a:t> Subtract one value from another. </a:t>
            </a:r>
            <a:endParaRPr/>
          </a:p>
          <a:p>
            <a:pPr marL="0" marR="0" lvl="0" indent="0" algn="l" rtl="0">
              <a:lnSpc>
                <a:spcPct val="100000"/>
              </a:lnSpc>
              <a:spcBef>
                <a:spcPts val="0"/>
              </a:spcBef>
              <a:spcAft>
                <a:spcPts val="0"/>
              </a:spcAft>
              <a:buClr>
                <a:schemeClr val="dk1"/>
              </a:buClr>
              <a:buSzPts val="1200"/>
              <a:buFont typeface="Arial"/>
              <a:buNone/>
            </a:pPr>
            <a:r>
              <a:rPr lang="en-US" b="1"/>
              <a:t>MOV:</a:t>
            </a:r>
            <a:r>
              <a:rPr lang="en-US"/>
              <a:t> Move data from one location to another. </a:t>
            </a:r>
            <a:endParaRPr/>
          </a:p>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187E2C0D-4BB7-4511-6ED1-EEF1395333F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940860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524000" y="1148861"/>
            <a:ext cx="9144000" cy="119926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Play"/>
              <a:buNone/>
            </a:pPr>
            <a:r>
              <a:rPr lang="en-US" sz="4000" dirty="0"/>
              <a:t>Week 8</a:t>
            </a:r>
            <a:endParaRPr dirty="0"/>
          </a:p>
        </p:txBody>
      </p:sp>
      <p:sp>
        <p:nvSpPr>
          <p:cNvPr id="89" name="Google Shape;89;p13"/>
          <p:cNvSpPr txBox="1">
            <a:spLocks noGrp="1"/>
          </p:cNvSpPr>
          <p:nvPr>
            <p:ph type="subTitle" idx="1"/>
          </p:nvPr>
        </p:nvSpPr>
        <p:spPr>
          <a:xfrm>
            <a:off x="3986784" y="2657627"/>
            <a:ext cx="4218432" cy="38474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000"/>
              <a:buNone/>
            </a:pPr>
            <a:r>
              <a:rPr lang="en-US" sz="2000" b="1"/>
              <a:t>Behram Khan</a:t>
            </a:r>
            <a:endParaRPr/>
          </a:p>
        </p:txBody>
      </p:sp>
      <p:pic>
        <p:nvPicPr>
          <p:cNvPr id="90" name="Google Shape;90;p13" descr="A logo of a university of engineering and technology&#10;&#10;Description automatically generated"/>
          <p:cNvPicPr preferRelativeResize="0"/>
          <p:nvPr/>
        </p:nvPicPr>
        <p:blipFill rotWithShape="1">
          <a:blip r:embed="rId3">
            <a:alphaModFix/>
          </a:blip>
          <a:srcRect/>
          <a:stretch/>
        </p:blipFill>
        <p:spPr>
          <a:xfrm>
            <a:off x="5048250" y="3351873"/>
            <a:ext cx="2095500" cy="2066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6"/>
          <p:cNvSpPr txBox="1">
            <a:spLocks noGrp="1"/>
          </p:cNvSpPr>
          <p:nvPr>
            <p:ph type="ctrTitle"/>
          </p:nvPr>
        </p:nvSpPr>
        <p:spPr>
          <a:xfrm>
            <a:off x="1523999" y="2084514"/>
            <a:ext cx="9144000" cy="95129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0000"/>
              </a:buClr>
              <a:buSzPts val="4000"/>
              <a:buFont typeface="Play"/>
              <a:buNone/>
            </a:pPr>
            <a:r>
              <a:rPr lang="en-US" sz="4000" dirty="0">
                <a:solidFill>
                  <a:srgbClr val="FF0000"/>
                </a:solidFill>
              </a:rPr>
              <a:t>Game Design</a:t>
            </a:r>
            <a:endParaRPr dirty="0"/>
          </a:p>
        </p:txBody>
      </p:sp>
      <p:pic>
        <p:nvPicPr>
          <p:cNvPr id="108" name="Google Shape;108;p16" descr="A yellow question mark with a face on it&#10;&#10;Description automatically generated"/>
          <p:cNvPicPr preferRelativeResize="0"/>
          <p:nvPr/>
        </p:nvPicPr>
        <p:blipFill rotWithShape="1">
          <a:blip r:embed="rId3">
            <a:alphaModFix/>
          </a:blip>
          <a:srcRect/>
          <a:stretch/>
        </p:blipFill>
        <p:spPr>
          <a:xfrm>
            <a:off x="4661725" y="3035808"/>
            <a:ext cx="2560320" cy="2560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CB26E7C-0C7E-AACC-809C-34633BAA9BC7}"/>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3B62F718-A03E-9DE4-4F73-FDEFCDA37173}"/>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r>
              <a:rPr lang="en-US" dirty="0"/>
              <a:t>Game Design	</a:t>
            </a:r>
            <a:endParaRPr lang="en-PK" dirty="0"/>
          </a:p>
        </p:txBody>
      </p:sp>
      <p:sp>
        <p:nvSpPr>
          <p:cNvPr id="115" name="Google Shape;115;p17">
            <a:extLst>
              <a:ext uri="{FF2B5EF4-FFF2-40B4-BE49-F238E27FC236}">
                <a16:creationId xmlns:a16="http://schemas.microsoft.com/office/drawing/2014/main" id="{98D3C38B-A769-D3CF-F442-CEB447448291}"/>
              </a:ext>
            </a:extLst>
          </p:cNvPr>
          <p:cNvSpPr txBox="1">
            <a:spLocks noGrp="1"/>
          </p:cNvSpPr>
          <p:nvPr>
            <p:ph type="body" idx="1"/>
          </p:nvPr>
        </p:nvSpPr>
        <p:spPr>
          <a:xfrm>
            <a:off x="838200" y="1414732"/>
            <a:ext cx="10515600" cy="5078100"/>
          </a:xfrm>
          <a:prstGeom prst="rect">
            <a:avLst/>
          </a:prstGeom>
          <a:noFill/>
          <a:ln>
            <a:noFill/>
          </a:ln>
        </p:spPr>
        <p:txBody>
          <a:bodyPr spcFirstLastPara="1" wrap="square" lIns="91425" tIns="45700" rIns="91425" bIns="45700" anchor="t" anchorCtr="0">
            <a:normAutofit/>
          </a:bodyPr>
          <a:lstStyle/>
          <a:p>
            <a:pPr marL="114300" indent="0">
              <a:buNone/>
            </a:pPr>
            <a:r>
              <a:rPr lang="en-US" sz="1800" dirty="0"/>
              <a:t>Game design is the deliberate creation of rules, systems, and player experiences.</a:t>
            </a:r>
          </a:p>
          <a:p>
            <a:r>
              <a:rPr lang="en-US" sz="1800" dirty="0"/>
              <a:t>A game designer deciding the player experience.</a:t>
            </a:r>
          </a:p>
          <a:p>
            <a:r>
              <a:rPr lang="en-US" sz="1800" dirty="0"/>
              <a:t>The core question it involves is what does the player actually do and feel in every minute of the game.</a:t>
            </a:r>
          </a:p>
          <a:p>
            <a:r>
              <a:rPr lang="en-US" sz="1800" dirty="0"/>
              <a:t>Does not involve programming, arts, marketing. </a:t>
            </a:r>
          </a:p>
          <a:p>
            <a:pPr marL="114300" indent="0">
              <a:buNone/>
            </a:pPr>
            <a:r>
              <a:rPr lang="en-US" sz="1800" b="1" dirty="0"/>
              <a:t>Key distinction:</a:t>
            </a:r>
            <a:r>
              <a:rPr lang="en-US" sz="1800" dirty="0"/>
              <a:t> A game designer decides </a:t>
            </a:r>
            <a:r>
              <a:rPr lang="en-US" sz="1800" i="1" dirty="0"/>
              <a:t>how</a:t>
            </a:r>
            <a:r>
              <a:rPr lang="en-US" sz="1800" dirty="0"/>
              <a:t> the game works. A programmer implements it. An artist makes it look good. A producer manages the team. All are important, but design is about the interactive experience itself.</a:t>
            </a:r>
          </a:p>
          <a:p>
            <a:pPr marL="114300" indent="0">
              <a:buNone/>
            </a:pPr>
            <a:endParaRPr lang="en-US" sz="1800" dirty="0"/>
          </a:p>
        </p:txBody>
      </p:sp>
    </p:spTree>
    <p:extLst>
      <p:ext uri="{BB962C8B-B14F-4D97-AF65-F5344CB8AC3E}">
        <p14:creationId xmlns:p14="http://schemas.microsoft.com/office/powerpoint/2010/main" val="961821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F6DD9B5-154A-C9FC-1451-C666D338A4F8}"/>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6E0731CA-7E7B-1AA0-EAF6-5C05FCA32558}"/>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r>
              <a:rPr lang="en-US" dirty="0"/>
              <a:t>MDA Framework</a:t>
            </a:r>
          </a:p>
        </p:txBody>
      </p:sp>
      <p:sp>
        <p:nvSpPr>
          <p:cNvPr id="115" name="Google Shape;115;p17">
            <a:extLst>
              <a:ext uri="{FF2B5EF4-FFF2-40B4-BE49-F238E27FC236}">
                <a16:creationId xmlns:a16="http://schemas.microsoft.com/office/drawing/2014/main" id="{039B180C-BD95-3757-192A-BA31BB7D23E3}"/>
              </a:ext>
            </a:extLst>
          </p:cNvPr>
          <p:cNvSpPr txBox="1">
            <a:spLocks noGrp="1"/>
          </p:cNvSpPr>
          <p:nvPr>
            <p:ph type="body" idx="1"/>
          </p:nvPr>
        </p:nvSpPr>
        <p:spPr>
          <a:xfrm>
            <a:off x="838200" y="1414732"/>
            <a:ext cx="10515600" cy="5078100"/>
          </a:xfrm>
          <a:prstGeom prst="rect">
            <a:avLst/>
          </a:prstGeom>
          <a:noFill/>
          <a:ln>
            <a:noFill/>
          </a:ln>
        </p:spPr>
        <p:txBody>
          <a:bodyPr spcFirstLastPara="1" wrap="square" lIns="91425" tIns="45700" rIns="91425" bIns="45700" anchor="t" anchorCtr="0">
            <a:normAutofit/>
          </a:bodyPr>
          <a:lstStyle/>
          <a:p>
            <a:pPr marL="114300" indent="0">
              <a:buNone/>
            </a:pPr>
            <a:r>
              <a:rPr lang="en-US" sz="1800" b="1" dirty="0">
                <a:latin typeface="Arial" panose="020B0604020202020204" pitchFamily="34" charset="0"/>
                <a:cs typeface="Arial" panose="020B0604020202020204" pitchFamily="34" charset="0"/>
              </a:rPr>
              <a:t>Mechanics: </a:t>
            </a:r>
            <a:r>
              <a:rPr lang="en-US" sz="1800" dirty="0">
                <a:latin typeface="Arial" panose="020B0604020202020204" pitchFamily="34" charset="0"/>
                <a:cs typeface="Arial" panose="020B0604020202020204" pitchFamily="34" charset="0"/>
              </a:rPr>
              <a:t>The systems built by the designer. Anything the player can do in the game.</a:t>
            </a:r>
          </a:p>
          <a:p>
            <a:pPr marL="114300" indent="0">
              <a:buNone/>
            </a:pPr>
            <a:r>
              <a:rPr lang="en-US" sz="1800" b="1" dirty="0">
                <a:latin typeface="Arial" panose="020B0604020202020204" pitchFamily="34" charset="0"/>
                <a:cs typeface="Arial" panose="020B0604020202020204" pitchFamily="34" charset="0"/>
              </a:rPr>
              <a:t>Dynamics: </a:t>
            </a:r>
            <a:r>
              <a:rPr lang="en-US" sz="1800" dirty="0">
                <a:effectLst/>
                <a:latin typeface="Arial" panose="020B0604020202020204" pitchFamily="34" charset="0"/>
                <a:ea typeface="Calibri" panose="020F0502020204030204" pitchFamily="34" charset="0"/>
                <a:cs typeface="Arial" panose="020B0604020202020204" pitchFamily="34" charset="0"/>
              </a:rPr>
              <a:t>The emergent behaviors that happen when players interact with mechanics</a:t>
            </a:r>
            <a:endParaRPr lang="en-US" sz="1800" b="1" dirty="0">
              <a:latin typeface="Arial" panose="020B0604020202020204" pitchFamily="34" charset="0"/>
              <a:cs typeface="Arial" panose="020B0604020202020204" pitchFamily="34" charset="0"/>
            </a:endParaRPr>
          </a:p>
          <a:p>
            <a:pPr marL="114300" indent="0">
              <a:buNone/>
            </a:pPr>
            <a:r>
              <a:rPr lang="en-US" sz="1800" b="1" dirty="0">
                <a:latin typeface="Arial" panose="020B0604020202020204" pitchFamily="34" charset="0"/>
                <a:cs typeface="Arial" panose="020B0604020202020204" pitchFamily="34" charset="0"/>
              </a:rPr>
              <a:t>Aesthetics: </a:t>
            </a:r>
            <a:r>
              <a:rPr lang="en-US" sz="1800" dirty="0">
                <a:latin typeface="Arial" panose="020B0604020202020204" pitchFamily="34" charset="0"/>
                <a:cs typeface="Arial" panose="020B0604020202020204" pitchFamily="34" charset="0"/>
              </a:rPr>
              <a:t>The emotional responses the game evokes in players. </a:t>
            </a:r>
          </a:p>
          <a:p>
            <a:pPr marL="114300" indent="0">
              <a:buNone/>
            </a:pPr>
            <a:r>
              <a:rPr lang="en-US" sz="1800" b="1" dirty="0">
                <a:latin typeface="Arial" panose="020B0604020202020204" pitchFamily="34" charset="0"/>
                <a:cs typeface="Arial" panose="020B0604020202020204" pitchFamily="34" charset="0"/>
              </a:rPr>
              <a:t>Example:</a:t>
            </a:r>
          </a:p>
          <a:p>
            <a:pPr marL="114300" indent="0">
              <a:buNone/>
            </a:pPr>
            <a:r>
              <a:rPr lang="en-US" sz="1800" b="1" dirty="0">
                <a:latin typeface="Arial" panose="020B0604020202020204" pitchFamily="34" charset="0"/>
                <a:cs typeface="Arial" panose="020B0604020202020204" pitchFamily="34" charset="0"/>
              </a:rPr>
              <a:t>PUBG: M -&gt; Guns, health</a:t>
            </a:r>
          </a:p>
          <a:p>
            <a:pPr marL="114300" indent="0">
              <a:buNone/>
            </a:pPr>
            <a:r>
              <a:rPr lang="en-US" sz="1800" b="1" dirty="0">
                <a:latin typeface="Arial" panose="020B0604020202020204" pitchFamily="34" charset="0"/>
                <a:cs typeface="Arial" panose="020B0604020202020204" pitchFamily="34" charset="0"/>
              </a:rPr>
              <a:t>	D -&gt; Camping, rushing</a:t>
            </a:r>
          </a:p>
          <a:p>
            <a:pPr marL="114300" indent="0">
              <a:buNone/>
            </a:pPr>
            <a:r>
              <a:rPr lang="en-US" sz="1800" b="1" dirty="0">
                <a:latin typeface="Arial" panose="020B0604020202020204" pitchFamily="34" charset="0"/>
                <a:cs typeface="Arial" panose="020B0604020202020204" pitchFamily="34" charset="0"/>
              </a:rPr>
              <a:t>	A -&gt; Tension, fear</a:t>
            </a:r>
          </a:p>
          <a:p>
            <a:pPr marL="114300" indent="0">
              <a:buNone/>
            </a:pPr>
            <a:r>
              <a:rPr lang="en-US" sz="1800" b="1" dirty="0">
                <a:latin typeface="Arial" panose="020B0604020202020204" pitchFamily="34" charset="0"/>
                <a:cs typeface="Arial" panose="020B0604020202020204" pitchFamily="34" charset="0"/>
              </a:rPr>
              <a:t>Plants vs Zombies:</a:t>
            </a:r>
          </a:p>
          <a:p>
            <a:pPr marL="114300" indent="0">
              <a:buNone/>
            </a:pPr>
            <a:endParaRPr lang="en-US" sz="1800" b="1" dirty="0">
              <a:latin typeface="Arial" panose="020B0604020202020204" pitchFamily="34" charset="0"/>
              <a:cs typeface="Arial" panose="020B0604020202020204" pitchFamily="34" charset="0"/>
            </a:endParaRPr>
          </a:p>
          <a:p>
            <a:pPr marL="114300" indent="0">
              <a:buNone/>
            </a:pPr>
            <a:endParaRPr lang="en-US" sz="1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8084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nts vs. Zombies FREE for Android - Download the APK from Uptodown">
            <a:extLst>
              <a:ext uri="{FF2B5EF4-FFF2-40B4-BE49-F238E27FC236}">
                <a16:creationId xmlns:a16="http://schemas.microsoft.com/office/drawing/2014/main" id="{CB257223-DC9A-F432-BC4B-07115FD3C3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7907"/>
          <a:stretch>
            <a:fillRect/>
          </a:stretch>
        </p:blipFill>
        <p:spPr bwMode="auto">
          <a:xfrm>
            <a:off x="606056" y="571499"/>
            <a:ext cx="10770781" cy="5520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51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4D7CB5FA-7121-F22C-CD67-6CCA37BA0790}"/>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9053DC64-A3EF-C463-0596-CF1EB88C915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r>
              <a:rPr lang="en-US" dirty="0"/>
              <a:t>Game design principles</a:t>
            </a:r>
          </a:p>
        </p:txBody>
      </p:sp>
      <p:sp>
        <p:nvSpPr>
          <p:cNvPr id="115" name="Google Shape;115;p17">
            <a:extLst>
              <a:ext uri="{FF2B5EF4-FFF2-40B4-BE49-F238E27FC236}">
                <a16:creationId xmlns:a16="http://schemas.microsoft.com/office/drawing/2014/main" id="{45E6233F-FE7D-F3F1-8889-D641788703C6}"/>
              </a:ext>
            </a:extLst>
          </p:cNvPr>
          <p:cNvSpPr txBox="1">
            <a:spLocks noGrp="1"/>
          </p:cNvSpPr>
          <p:nvPr>
            <p:ph type="body" idx="1"/>
          </p:nvPr>
        </p:nvSpPr>
        <p:spPr>
          <a:xfrm>
            <a:off x="838200" y="1414732"/>
            <a:ext cx="10515600" cy="5078100"/>
          </a:xfrm>
          <a:prstGeom prst="rect">
            <a:avLst/>
          </a:prstGeom>
          <a:noFill/>
          <a:ln>
            <a:noFill/>
          </a:ln>
        </p:spPr>
        <p:txBody>
          <a:bodyPr spcFirstLastPara="1" wrap="square" lIns="91425" tIns="45700" rIns="91425" bIns="45700" anchor="t" anchorCtr="0">
            <a:noAutofit/>
          </a:bodyPr>
          <a:lstStyle/>
          <a:p>
            <a:r>
              <a:rPr lang="en-US" sz="1800" b="1" dirty="0"/>
              <a:t>Clarity</a:t>
            </a:r>
            <a:r>
              <a:rPr lang="en-US" sz="1800" dirty="0"/>
              <a:t> – The player always understands what just happened. They know why they took damage, why a door opened, why they failed.</a:t>
            </a:r>
          </a:p>
          <a:p>
            <a:r>
              <a:rPr lang="en-US" sz="1800" b="1" dirty="0"/>
              <a:t>Consistency</a:t>
            </a:r>
            <a:r>
              <a:rPr lang="en-US" sz="1800" dirty="0"/>
              <a:t> – Same input produces the same output (unless randomness is explicitly part of the design). If jump works one way in level 1, it should work the same way in level 8. </a:t>
            </a:r>
            <a:r>
              <a:rPr lang="en-US" sz="1800" i="1" dirty="0"/>
              <a:t>Anti-pattern:</a:t>
            </a:r>
            <a:r>
              <a:rPr lang="en-US" sz="1800" dirty="0"/>
              <a:t> Jump distance changes depending on which platform you're on.</a:t>
            </a:r>
          </a:p>
          <a:p>
            <a:r>
              <a:rPr lang="en-US" sz="1800" b="1" dirty="0"/>
              <a:t>Feedback</a:t>
            </a:r>
            <a:r>
              <a:rPr lang="en-US" sz="1800" dirty="0"/>
              <a:t> – Every player action has a response. Even doing nothing (idle animation) is feedback that the game is still running. </a:t>
            </a:r>
            <a:r>
              <a:rPr lang="en-US" sz="1800" i="1" dirty="0"/>
              <a:t>Anti-pattern:</a:t>
            </a:r>
            <a:r>
              <a:rPr lang="en-US" sz="1800" dirty="0"/>
              <a:t> Pressing a button and nothing happens for 0.5 seconds.</a:t>
            </a:r>
          </a:p>
          <a:p>
            <a:r>
              <a:rPr lang="en-US" sz="1800" b="1" dirty="0"/>
              <a:t>Fairness</a:t>
            </a:r>
            <a:r>
              <a:rPr lang="en-US" sz="1800" dirty="0"/>
              <a:t> – Player skill (or strategic choice) determines outcome more than random chance. When randomness exists, the player should understand the odds. </a:t>
            </a:r>
            <a:r>
              <a:rPr lang="en-US" sz="1800" i="1" dirty="0"/>
              <a:t>Anti-pattern:</a:t>
            </a:r>
            <a:r>
              <a:rPr lang="en-US" sz="1800" dirty="0"/>
              <a:t> Unavoidable damage, invisible traps, AI that reads your inputs.</a:t>
            </a:r>
          </a:p>
          <a:p>
            <a:r>
              <a:rPr lang="en-US" sz="1800" b="1" dirty="0"/>
              <a:t>Meaningful Choices</a:t>
            </a:r>
            <a:r>
              <a:rPr lang="en-US" sz="1800" dirty="0"/>
              <a:t> – Two or more options with real trade-offs, where neither is obviously better. The choice should matter to the outcome. </a:t>
            </a:r>
            <a:r>
              <a:rPr lang="en-US" sz="1800" i="1" dirty="0"/>
              <a:t>Anti-pattern:</a:t>
            </a:r>
            <a:r>
              <a:rPr lang="en-US" sz="1800" dirty="0"/>
              <a:t> Both paths lead to the same reward, one weapon is statistically superior in all situations.</a:t>
            </a:r>
          </a:p>
          <a:p>
            <a:r>
              <a:rPr lang="en-US" sz="1800" b="1" dirty="0"/>
              <a:t>Learnability</a:t>
            </a:r>
            <a:r>
              <a:rPr lang="en-US" sz="1800" dirty="0"/>
              <a:t> – The game is easy to start (low barrier) but offers depth for mastery. The first 10 minutes teach core mechanics without a manual. </a:t>
            </a:r>
            <a:r>
              <a:rPr lang="en-US" sz="1800" i="1" dirty="0"/>
              <a:t>Anti-pattern:</a:t>
            </a:r>
            <a:r>
              <a:rPr lang="en-US" sz="1800" dirty="0"/>
              <a:t> A steep learning curve from minute one, requiring external wiki to understand basics.</a:t>
            </a:r>
          </a:p>
        </p:txBody>
      </p:sp>
    </p:spTree>
    <p:extLst>
      <p:ext uri="{BB962C8B-B14F-4D97-AF65-F5344CB8AC3E}">
        <p14:creationId xmlns:p14="http://schemas.microsoft.com/office/powerpoint/2010/main" val="1565935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rcade winter mountains game level map interface. Ice platforms and golden  coins, stairs and food. Mobile game environment vector landscape, retro  gaming arcade scenery with snowy platforms in arctic Stock Vector Image">
            <a:extLst>
              <a:ext uri="{FF2B5EF4-FFF2-40B4-BE49-F238E27FC236}">
                <a16:creationId xmlns:a16="http://schemas.microsoft.com/office/drawing/2014/main" id="{3F3138DB-2DD2-9AAA-E7B0-B81EA0E898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823" y="273828"/>
            <a:ext cx="10696353" cy="6467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610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8531C-BD92-4330-C08E-AB507A45426A}"/>
            </a:ext>
          </a:extLst>
        </p:cNvPr>
        <p:cNvGrpSpPr/>
        <p:nvPr/>
      </p:nvGrpSpPr>
      <p:grpSpPr>
        <a:xfrm>
          <a:off x="0" y="0"/>
          <a:ext cx="0" cy="0"/>
          <a:chOff x="0" y="0"/>
          <a:chExt cx="0" cy="0"/>
        </a:xfrm>
      </p:grpSpPr>
      <p:pic>
        <p:nvPicPr>
          <p:cNvPr id="2052" name="Picture 4" descr="Wild west western arcade game level map with platforms canyons and  mountains mobile game layer computer videogame or mobile gaming app vector  background retro arcade screen with desert ground | Premium Vector">
            <a:extLst>
              <a:ext uri="{FF2B5EF4-FFF2-40B4-BE49-F238E27FC236}">
                <a16:creationId xmlns:a16="http://schemas.microsoft.com/office/drawing/2014/main" id="{FA1A7306-CCEE-130C-EB84-08D204612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2239" y="988828"/>
            <a:ext cx="9815622" cy="5262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075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D06A0968-7956-6080-CB5E-A1381C22A142}"/>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E8F736C5-5332-6B5A-41D5-F463948D8B33}"/>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r>
              <a:rPr lang="en-US" dirty="0"/>
              <a:t>The player experience</a:t>
            </a:r>
          </a:p>
        </p:txBody>
      </p:sp>
      <p:sp>
        <p:nvSpPr>
          <p:cNvPr id="115" name="Google Shape;115;p17">
            <a:extLst>
              <a:ext uri="{FF2B5EF4-FFF2-40B4-BE49-F238E27FC236}">
                <a16:creationId xmlns:a16="http://schemas.microsoft.com/office/drawing/2014/main" id="{69E9F253-9FE8-43E0-F7C8-4846BFA3D70C}"/>
              </a:ext>
            </a:extLst>
          </p:cNvPr>
          <p:cNvSpPr txBox="1">
            <a:spLocks noGrp="1"/>
          </p:cNvSpPr>
          <p:nvPr>
            <p:ph type="body" idx="1"/>
          </p:nvPr>
        </p:nvSpPr>
        <p:spPr>
          <a:xfrm>
            <a:off x="838200" y="1414732"/>
            <a:ext cx="10515600" cy="5078100"/>
          </a:xfrm>
          <a:prstGeom prst="rect">
            <a:avLst/>
          </a:prstGeom>
          <a:noFill/>
          <a:ln>
            <a:noFill/>
          </a:ln>
        </p:spPr>
        <p:txBody>
          <a:bodyPr spcFirstLastPara="1" wrap="square" lIns="91425" tIns="45700" rIns="91425" bIns="45700" anchor="t" anchorCtr="0">
            <a:noAutofit/>
          </a:bodyPr>
          <a:lstStyle/>
          <a:p>
            <a:pPr marL="114300" indent="0">
              <a:buNone/>
            </a:pPr>
            <a:r>
              <a:rPr lang="en-US" sz="1800" b="1" dirty="0"/>
              <a:t>Thinking About the User (Player-Centered Design)</a:t>
            </a:r>
          </a:p>
          <a:p>
            <a:pPr marL="114300" indent="0">
              <a:buNone/>
            </a:pPr>
            <a:r>
              <a:rPr lang="en-US" sz="1800" dirty="0"/>
              <a:t>You are not designing for yourself. You are designing for a player with different skills, patience, and goals.</a:t>
            </a:r>
          </a:p>
          <a:p>
            <a:pPr marL="114300" indent="0">
              <a:buNone/>
            </a:pPr>
            <a:r>
              <a:rPr lang="en-US" sz="1800" dirty="0"/>
              <a:t>Player personas (based on Bartle's Taxonomy, adapted for all games):</a:t>
            </a:r>
          </a:p>
          <a:p>
            <a:pPr marL="114300" indent="0">
              <a:buNone/>
            </a:pPr>
            <a:r>
              <a:rPr lang="en-US" sz="1800" b="1" dirty="0"/>
              <a:t>• Achievers </a:t>
            </a:r>
            <a:r>
              <a:rPr lang="en-US" sz="1800" dirty="0"/>
              <a:t>– Want points, levels, 100% completion, trophies. They play to win and collect.</a:t>
            </a:r>
          </a:p>
          <a:p>
            <a:pPr marL="114300" indent="0">
              <a:buNone/>
            </a:pPr>
            <a:r>
              <a:rPr lang="en-US" sz="1800" b="1" dirty="0"/>
              <a:t>• Explorers</a:t>
            </a:r>
            <a:r>
              <a:rPr lang="en-US" sz="1800" dirty="0"/>
              <a:t> – Want to understand the world, find secrets, map systems. They play to discover.</a:t>
            </a:r>
          </a:p>
          <a:p>
            <a:pPr marL="114300" indent="0">
              <a:buNone/>
            </a:pPr>
            <a:r>
              <a:rPr lang="en-US" sz="1800" b="1" dirty="0"/>
              <a:t>• Socializers</a:t>
            </a:r>
            <a:r>
              <a:rPr lang="en-US" sz="1800" dirty="0"/>
              <a:t> – Want to talk, roleplay, help others, form guilds. They play to connect.</a:t>
            </a:r>
          </a:p>
          <a:p>
            <a:pPr marL="114300" indent="0">
              <a:buNone/>
            </a:pPr>
            <a:r>
              <a:rPr lang="en-US" sz="1800" b="1" dirty="0"/>
              <a:t>• Killers </a:t>
            </a:r>
            <a:r>
              <a:rPr lang="en-US" sz="1800" dirty="0"/>
              <a:t>– Want to dominate, compete, be the top of the leaderboard. They play to defeat others.</a:t>
            </a:r>
          </a:p>
          <a:p>
            <a:pPr marL="114300" indent="0">
              <a:buNone/>
            </a:pPr>
            <a:endParaRPr lang="en-US" sz="1800" dirty="0"/>
          </a:p>
        </p:txBody>
      </p:sp>
    </p:spTree>
    <p:extLst>
      <p:ext uri="{BB962C8B-B14F-4D97-AF65-F5344CB8AC3E}">
        <p14:creationId xmlns:p14="http://schemas.microsoft.com/office/powerpoint/2010/main" val="297625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Clash of Clans' Builder Base update is its biggest new content dump of 2017  - GamesBeat">
            <a:extLst>
              <a:ext uri="{FF2B5EF4-FFF2-40B4-BE49-F238E27FC236}">
                <a16:creationId xmlns:a16="http://schemas.microsoft.com/office/drawing/2014/main" id="{77625121-3518-1998-7073-7D77AC546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549" y="323430"/>
            <a:ext cx="10330901" cy="5804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457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61D7-29BE-B92B-4063-F0D0226FA0AA}"/>
            </a:ext>
          </a:extLst>
        </p:cNvPr>
        <p:cNvGrpSpPr/>
        <p:nvPr/>
      </p:nvGrpSpPr>
      <p:grpSpPr>
        <a:xfrm>
          <a:off x="0" y="0"/>
          <a:ext cx="0" cy="0"/>
          <a:chOff x="0" y="0"/>
          <a:chExt cx="0" cy="0"/>
        </a:xfrm>
      </p:grpSpPr>
      <p:pic>
        <p:nvPicPr>
          <p:cNvPr id="5122" name="Picture 2" descr="Elden Ring player proves how small the map really is when you cut optional  content | GamesRadar+">
            <a:extLst>
              <a:ext uri="{FF2B5EF4-FFF2-40B4-BE49-F238E27FC236}">
                <a16:creationId xmlns:a16="http://schemas.microsoft.com/office/drawing/2014/main" id="{D481F6D0-6A67-F725-F724-4C3794F52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433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6751B-627D-5C3E-FCC8-2F6D2F0AB5D6}"/>
            </a:ext>
          </a:extLst>
        </p:cNvPr>
        <p:cNvGrpSpPr/>
        <p:nvPr/>
      </p:nvGrpSpPr>
      <p:grpSpPr>
        <a:xfrm>
          <a:off x="0" y="0"/>
          <a:ext cx="0" cy="0"/>
          <a:chOff x="0" y="0"/>
          <a:chExt cx="0" cy="0"/>
        </a:xfrm>
      </p:grpSpPr>
      <p:pic>
        <p:nvPicPr>
          <p:cNvPr id="6146" name="Picture 2" descr="Among Us (for iOS) - Review 2020 - PCMag Australia">
            <a:extLst>
              <a:ext uri="{FF2B5EF4-FFF2-40B4-BE49-F238E27FC236}">
                <a16:creationId xmlns:a16="http://schemas.microsoft.com/office/drawing/2014/main" id="{4853E445-4D1E-D3A0-BF2C-33F8A087E2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052" y="196195"/>
            <a:ext cx="10828421" cy="6063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017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77815-7725-63FC-D2AA-AE0059878055}"/>
            </a:ext>
          </a:extLst>
        </p:cNvPr>
        <p:cNvGrpSpPr/>
        <p:nvPr/>
      </p:nvGrpSpPr>
      <p:grpSpPr>
        <a:xfrm>
          <a:off x="0" y="0"/>
          <a:ext cx="0" cy="0"/>
          <a:chOff x="0" y="0"/>
          <a:chExt cx="0" cy="0"/>
        </a:xfrm>
      </p:grpSpPr>
      <p:pic>
        <p:nvPicPr>
          <p:cNvPr id="7176" name="Picture 8" descr="Counter-Strike 2 is real, and coming this summer | The Standard">
            <a:extLst>
              <a:ext uri="{FF2B5EF4-FFF2-40B4-BE49-F238E27FC236}">
                <a16:creationId xmlns:a16="http://schemas.microsoft.com/office/drawing/2014/main" id="{EF7BF686-AB8F-4173-0338-724ECF2896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257175"/>
            <a:ext cx="9525000" cy="634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300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6A87A9A8-4219-6536-41CF-747737E43326}"/>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0BA215DD-22E4-B9CC-46DA-D9275B3888C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r>
              <a:rPr lang="en-US" dirty="0"/>
              <a:t>Player Motivation</a:t>
            </a:r>
          </a:p>
        </p:txBody>
      </p:sp>
      <p:sp>
        <p:nvSpPr>
          <p:cNvPr id="115" name="Google Shape;115;p17">
            <a:extLst>
              <a:ext uri="{FF2B5EF4-FFF2-40B4-BE49-F238E27FC236}">
                <a16:creationId xmlns:a16="http://schemas.microsoft.com/office/drawing/2014/main" id="{B5B2BED7-5740-142A-39B8-21180E4FD5CD}"/>
              </a:ext>
            </a:extLst>
          </p:cNvPr>
          <p:cNvSpPr txBox="1">
            <a:spLocks noGrp="1"/>
          </p:cNvSpPr>
          <p:nvPr>
            <p:ph type="body" idx="1"/>
          </p:nvPr>
        </p:nvSpPr>
        <p:spPr>
          <a:xfrm>
            <a:off x="838200" y="1414732"/>
            <a:ext cx="10515600" cy="5078100"/>
          </a:xfrm>
          <a:prstGeom prst="rect">
            <a:avLst/>
          </a:prstGeom>
          <a:noFill/>
          <a:ln>
            <a:noFill/>
          </a:ln>
        </p:spPr>
        <p:txBody>
          <a:bodyPr spcFirstLastPara="1" wrap="square" lIns="91425" tIns="45700" rIns="91425" bIns="45700" anchor="t" anchorCtr="0">
            <a:noAutofit/>
          </a:bodyPr>
          <a:lstStyle/>
          <a:p>
            <a:pPr marL="114300" indent="0">
              <a:buNone/>
            </a:pPr>
            <a:r>
              <a:rPr lang="en-US" sz="1800" dirty="0"/>
              <a:t>Players are motivated by psychological needs that games can satisfy.</a:t>
            </a:r>
          </a:p>
          <a:p>
            <a:pPr marL="114300" indent="0">
              <a:buNone/>
            </a:pPr>
            <a:r>
              <a:rPr lang="en-US" sz="1800" b="1" dirty="0"/>
              <a:t>Autonomy: </a:t>
            </a:r>
            <a:r>
              <a:rPr lang="en-US" sz="1800" dirty="0"/>
              <a:t>Freedom to choose what to do, when, and how, Minecraft, Breath of the Wild, Skyrim</a:t>
            </a:r>
          </a:p>
          <a:p>
            <a:pPr marL="114300" indent="0">
              <a:buNone/>
            </a:pPr>
            <a:r>
              <a:rPr lang="en-US" sz="1800" b="1" dirty="0"/>
              <a:t>Mastery: </a:t>
            </a:r>
            <a:r>
              <a:rPr lang="en-US" sz="1800" dirty="0"/>
              <a:t>Getting better at a skill over time, visible improvement, Dark Souls, fighting games, rhythm games</a:t>
            </a:r>
          </a:p>
          <a:p>
            <a:pPr marL="114300" indent="0">
              <a:buNone/>
            </a:pPr>
            <a:r>
              <a:rPr lang="en-US" sz="1800" b="1" dirty="0"/>
              <a:t>Purpose:</a:t>
            </a:r>
            <a:r>
              <a:rPr lang="en-US" sz="1800" dirty="0"/>
              <a:t> Having a meaningful impact on the game world or other players, Papers, Please, This War of Mine, MMO healing.</a:t>
            </a:r>
          </a:p>
          <a:p>
            <a:pPr marL="114300" indent="0">
              <a:buNone/>
            </a:pPr>
            <a:r>
              <a:rPr lang="en-US" sz="1800" b="1" dirty="0"/>
              <a:t>What doesn't work: </a:t>
            </a:r>
            <a:r>
              <a:rPr lang="en-US" sz="1800" dirty="0"/>
              <a:t>Games that only punish (no reward), only grind (no mastery), only force social play (introverts quit), or only offer meaningless choices.</a:t>
            </a:r>
          </a:p>
          <a:p>
            <a:pPr marL="114300" indent="0">
              <a:buNone/>
            </a:pPr>
            <a:endParaRPr lang="en-US" sz="1800" dirty="0"/>
          </a:p>
          <a:p>
            <a:pPr marL="114300" indent="0">
              <a:buNone/>
            </a:pPr>
            <a:endParaRPr lang="en-US" sz="1800" dirty="0"/>
          </a:p>
        </p:txBody>
      </p:sp>
    </p:spTree>
    <p:extLst>
      <p:ext uri="{BB962C8B-B14F-4D97-AF65-F5344CB8AC3E}">
        <p14:creationId xmlns:p14="http://schemas.microsoft.com/office/powerpoint/2010/main" val="622464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F2712D9E-0710-4165-85EE-1E4180614DF3}"/>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6F9A4BD8-7C4F-565C-AF8B-69026D46B091}"/>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r>
              <a:rPr lang="en-US" dirty="0"/>
              <a:t>Feedback</a:t>
            </a:r>
          </a:p>
        </p:txBody>
      </p:sp>
      <p:sp>
        <p:nvSpPr>
          <p:cNvPr id="115" name="Google Shape;115;p17">
            <a:extLst>
              <a:ext uri="{FF2B5EF4-FFF2-40B4-BE49-F238E27FC236}">
                <a16:creationId xmlns:a16="http://schemas.microsoft.com/office/drawing/2014/main" id="{5356A0E5-FDBA-8548-8B14-4B9E17EBBE11}"/>
              </a:ext>
            </a:extLst>
          </p:cNvPr>
          <p:cNvSpPr txBox="1">
            <a:spLocks noGrp="1"/>
          </p:cNvSpPr>
          <p:nvPr>
            <p:ph type="body" idx="1"/>
          </p:nvPr>
        </p:nvSpPr>
        <p:spPr>
          <a:xfrm>
            <a:off x="838200" y="1414732"/>
            <a:ext cx="10515600" cy="5078100"/>
          </a:xfrm>
          <a:prstGeom prst="rect">
            <a:avLst/>
          </a:prstGeom>
          <a:noFill/>
          <a:ln>
            <a:noFill/>
          </a:ln>
        </p:spPr>
        <p:txBody>
          <a:bodyPr spcFirstLastPara="1" wrap="square" lIns="91425" tIns="45700" rIns="91425" bIns="45700" anchor="t" anchorCtr="0">
            <a:noAutofit/>
          </a:bodyPr>
          <a:lstStyle/>
          <a:p>
            <a:pPr marL="114300" indent="0">
              <a:buNone/>
            </a:pPr>
            <a:r>
              <a:rPr lang="en-US" sz="1800" dirty="0"/>
              <a:t>Feedback is how the game talks back to the player. Without feedback, the player feels like they are pressing buttons into a void. Feedback happens at multiple time scales.</a:t>
            </a:r>
          </a:p>
          <a:p>
            <a:pPr marL="114300" indent="0">
              <a:buNone/>
            </a:pPr>
            <a:r>
              <a:rPr lang="en-US" sz="1800" b="1" dirty="0"/>
              <a:t>Audio/visual :</a:t>
            </a:r>
            <a:r>
              <a:rPr lang="en-US" sz="1800" dirty="0"/>
              <a:t> coin sounds, hit flash. Satisfaction</a:t>
            </a:r>
          </a:p>
          <a:p>
            <a:pPr marL="114300" indent="0">
              <a:buNone/>
            </a:pPr>
            <a:r>
              <a:rPr lang="en-US" sz="1800" b="1" dirty="0"/>
              <a:t>Animation response:</a:t>
            </a:r>
            <a:r>
              <a:rPr lang="en-US" sz="1800" dirty="0"/>
              <a:t> Character pushes back. </a:t>
            </a:r>
          </a:p>
          <a:p>
            <a:pPr marL="114300" indent="0">
              <a:buNone/>
            </a:pPr>
            <a:r>
              <a:rPr lang="en-US" sz="1800" b="1" dirty="0"/>
              <a:t>Progression Feedback:</a:t>
            </a:r>
            <a:r>
              <a:rPr lang="en-US" sz="1800" dirty="0"/>
              <a:t> Unlock new abilities, character </a:t>
            </a:r>
            <a:r>
              <a:rPr lang="en-US" sz="1800" dirty="0" err="1"/>
              <a:t>levelups</a:t>
            </a:r>
            <a:r>
              <a:rPr lang="en-US" sz="1800" dirty="0"/>
              <a:t>, new items found.</a:t>
            </a:r>
          </a:p>
          <a:p>
            <a:pPr marL="114300" indent="0">
              <a:buNone/>
            </a:pPr>
            <a:endParaRPr lang="en-US" sz="1800" dirty="0"/>
          </a:p>
          <a:p>
            <a:pPr marL="114300" indent="0">
              <a:buNone/>
            </a:pPr>
            <a:r>
              <a:rPr lang="en-US" sz="1800" dirty="0"/>
              <a:t>• Street Fighter: Hit spark, screen freeze, health bar drains, announcer says "K.O.!", crowd </a:t>
            </a:r>
            <a:r>
              <a:rPr lang="en-US" sz="1800" dirty="0" err="1"/>
              <a:t>cheers.All</a:t>
            </a:r>
            <a:r>
              <a:rPr lang="en-US" sz="1800" dirty="0"/>
              <a:t> within 0.3 seconds.</a:t>
            </a:r>
          </a:p>
          <a:p>
            <a:pPr marL="114300" indent="0">
              <a:buNone/>
            </a:pPr>
            <a:r>
              <a:rPr lang="en-US" sz="1800" dirty="0"/>
              <a:t>• Mario: Jumping has a squash/stretch animation, coin collection has a rising chime, landing on an enemy has a distinct "</a:t>
            </a:r>
            <a:r>
              <a:rPr lang="en-US" sz="1800" dirty="0" err="1"/>
              <a:t>boop</a:t>
            </a:r>
            <a:r>
              <a:rPr lang="en-US" sz="1800" dirty="0"/>
              <a:t>" and bounce.</a:t>
            </a:r>
          </a:p>
          <a:p>
            <a:pPr marL="114300" indent="0">
              <a:buNone/>
            </a:pPr>
            <a:r>
              <a:rPr lang="en-US" sz="1800" dirty="0"/>
              <a:t>• Portal: Placing a portal has a distinct "</a:t>
            </a:r>
            <a:r>
              <a:rPr lang="en-US" sz="1800" dirty="0" err="1"/>
              <a:t>thwump</a:t>
            </a:r>
            <a:r>
              <a:rPr lang="en-US" sz="1800" dirty="0"/>
              <a:t>" sound, traveling through has a whoosh, and the destination portal shows the new view immediately.</a:t>
            </a:r>
          </a:p>
        </p:txBody>
      </p:sp>
    </p:spTree>
    <p:extLst>
      <p:ext uri="{BB962C8B-B14F-4D97-AF65-F5344CB8AC3E}">
        <p14:creationId xmlns:p14="http://schemas.microsoft.com/office/powerpoint/2010/main" val="496534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Villager – Minecraft Wiki">
            <a:extLst>
              <a:ext uri="{FF2B5EF4-FFF2-40B4-BE49-F238E27FC236}">
                <a16:creationId xmlns:a16="http://schemas.microsoft.com/office/drawing/2014/main" id="{2D8CDFFB-B1BE-1F15-40EF-D795E85122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522" y="1419625"/>
            <a:ext cx="1803333" cy="364090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minecraft legacy console - Villager ...">
            <a:extLst>
              <a:ext uri="{FF2B5EF4-FFF2-40B4-BE49-F238E27FC236}">
                <a16:creationId xmlns:a16="http://schemas.microsoft.com/office/drawing/2014/main" id="{FACFCD90-48C1-7FC2-84E4-5A3A217565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8006" y="1419625"/>
            <a:ext cx="8405212" cy="4323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7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B0436-C4E5-EE15-AC9A-0B283B1573F1}"/>
            </a:ext>
          </a:extLst>
        </p:cNvPr>
        <p:cNvGrpSpPr/>
        <p:nvPr/>
      </p:nvGrpSpPr>
      <p:grpSpPr>
        <a:xfrm>
          <a:off x="0" y="0"/>
          <a:ext cx="0" cy="0"/>
          <a:chOff x="0" y="0"/>
          <a:chExt cx="0" cy="0"/>
        </a:xfrm>
      </p:grpSpPr>
      <p:pic>
        <p:nvPicPr>
          <p:cNvPr id="9218" name="Picture 2" descr="Vampire Survivors Guide - IGN">
            <a:extLst>
              <a:ext uri="{FF2B5EF4-FFF2-40B4-BE49-F238E27FC236}">
                <a16:creationId xmlns:a16="http://schemas.microsoft.com/office/drawing/2014/main" id="{97A6936D-8909-7745-1EC9-466C668CA6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6905" y="532923"/>
            <a:ext cx="9603569" cy="5792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135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27BF731-65E3-B68A-24CB-D931EB6C685A}"/>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21F748FE-1C68-3B92-1D66-54836B12BA7A}"/>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r>
              <a:rPr lang="en-US" dirty="0"/>
              <a:t>Game Feel</a:t>
            </a:r>
          </a:p>
        </p:txBody>
      </p:sp>
      <p:sp>
        <p:nvSpPr>
          <p:cNvPr id="115" name="Google Shape;115;p17">
            <a:extLst>
              <a:ext uri="{FF2B5EF4-FFF2-40B4-BE49-F238E27FC236}">
                <a16:creationId xmlns:a16="http://schemas.microsoft.com/office/drawing/2014/main" id="{74BB6F49-818A-1202-238D-D405108F84DF}"/>
              </a:ext>
            </a:extLst>
          </p:cNvPr>
          <p:cNvSpPr txBox="1">
            <a:spLocks noGrp="1"/>
          </p:cNvSpPr>
          <p:nvPr>
            <p:ph type="body" idx="1"/>
          </p:nvPr>
        </p:nvSpPr>
        <p:spPr>
          <a:xfrm>
            <a:off x="838200" y="1414732"/>
            <a:ext cx="10515600" cy="5078100"/>
          </a:xfrm>
          <a:prstGeom prst="rect">
            <a:avLst/>
          </a:prstGeom>
          <a:noFill/>
          <a:ln>
            <a:noFill/>
          </a:ln>
        </p:spPr>
        <p:txBody>
          <a:bodyPr spcFirstLastPara="1" wrap="square" lIns="91425" tIns="45700" rIns="91425" bIns="45700" anchor="t" anchorCtr="0">
            <a:noAutofit/>
          </a:bodyPr>
          <a:lstStyle/>
          <a:p>
            <a:pPr marL="114300" indent="0">
              <a:buNone/>
            </a:pPr>
            <a:r>
              <a:rPr lang="en-US" sz="1800" dirty="0"/>
              <a:t>The moment-to-moment sensations of the game, what makes a jump feel right, a car feels heavy, shooting feeling good. Not necessary for functionality but must of delight.</a:t>
            </a:r>
          </a:p>
          <a:p>
            <a:pPr marL="114300" indent="0">
              <a:buNone/>
            </a:pPr>
            <a:r>
              <a:rPr lang="en-US" sz="1800" b="1" dirty="0"/>
              <a:t>Examples of juice:</a:t>
            </a:r>
          </a:p>
          <a:p>
            <a:pPr marL="114300" indent="0">
              <a:buNone/>
            </a:pPr>
            <a:r>
              <a:rPr lang="en-US" sz="1800" dirty="0"/>
              <a:t>• Screen shake when something explodes</a:t>
            </a:r>
          </a:p>
          <a:p>
            <a:pPr marL="114300" indent="0">
              <a:buNone/>
            </a:pPr>
            <a:r>
              <a:rPr lang="en-US" sz="1800" dirty="0"/>
              <a:t>• Particles flying from a collected item</a:t>
            </a:r>
          </a:p>
          <a:p>
            <a:pPr marL="114300" indent="0">
              <a:buNone/>
            </a:pPr>
            <a:r>
              <a:rPr lang="en-US" sz="1800" dirty="0"/>
              <a:t>• A slight delay before a big explosion (anticipation)</a:t>
            </a:r>
          </a:p>
          <a:p>
            <a:pPr marL="114300" indent="0">
              <a:buNone/>
            </a:pPr>
            <a:r>
              <a:rPr lang="en-US" sz="1800" dirty="0"/>
              <a:t>• Squash and stretch on a character's jump</a:t>
            </a:r>
          </a:p>
          <a:p>
            <a:pPr marL="114300" indent="0">
              <a:buNone/>
            </a:pPr>
            <a:r>
              <a:rPr lang="en-US" sz="1800" dirty="0"/>
              <a:t>• Controller rumble on impact</a:t>
            </a:r>
          </a:p>
          <a:p>
            <a:pPr marL="114300" indent="0">
              <a:buNone/>
            </a:pPr>
            <a:r>
              <a:rPr lang="en-US" sz="1800" dirty="0"/>
              <a:t>• A satisfying thud sound when landing from a height</a:t>
            </a:r>
          </a:p>
          <a:p>
            <a:pPr marL="114300" indent="0">
              <a:buNone/>
            </a:pPr>
            <a:r>
              <a:rPr lang="en-US" sz="1800" dirty="0"/>
              <a:t>• Flashing UI numbers when dealing damage</a:t>
            </a:r>
          </a:p>
          <a:p>
            <a:pPr marL="114300" indent="0">
              <a:buNone/>
            </a:pPr>
            <a:endParaRPr lang="en-US" sz="1800" dirty="0"/>
          </a:p>
        </p:txBody>
      </p:sp>
    </p:spTree>
    <p:extLst>
      <p:ext uri="{BB962C8B-B14F-4D97-AF65-F5344CB8AC3E}">
        <p14:creationId xmlns:p14="http://schemas.microsoft.com/office/powerpoint/2010/main" val="2089216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46" descr="A black background with text&#10;&#10;Description automatically generated"/>
          <p:cNvPicPr preferRelativeResize="0"/>
          <p:nvPr/>
        </p:nvPicPr>
        <p:blipFill rotWithShape="1">
          <a:blip r:embed="rId3">
            <a:alphaModFix/>
          </a:blip>
          <a:srcRect t="30226" b="35219"/>
          <a:stretch/>
        </p:blipFill>
        <p:spPr>
          <a:xfrm>
            <a:off x="2368480" y="2096653"/>
            <a:ext cx="7163447" cy="24753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3167</TotalTime>
  <Words>1141</Words>
  <Application>Microsoft Office PowerPoint</Application>
  <PresentationFormat>Widescreen</PresentationFormat>
  <Paragraphs>93</Paragraphs>
  <Slides>19</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Play</vt:lpstr>
      <vt:lpstr>Arial</vt:lpstr>
      <vt:lpstr>Office Theme</vt:lpstr>
      <vt:lpstr>Week 8</vt:lpstr>
      <vt:lpstr>Game Design</vt:lpstr>
      <vt:lpstr>Game Design </vt:lpstr>
      <vt:lpstr>MDA Framework</vt:lpstr>
      <vt:lpstr>PowerPoint Presentation</vt:lpstr>
      <vt:lpstr>Game design principles</vt:lpstr>
      <vt:lpstr>PowerPoint Presentation</vt:lpstr>
      <vt:lpstr>PowerPoint Presentation</vt:lpstr>
      <vt:lpstr>The player experience</vt:lpstr>
      <vt:lpstr>PowerPoint Presentation</vt:lpstr>
      <vt:lpstr>PowerPoint Presentation</vt:lpstr>
      <vt:lpstr>PowerPoint Presentation</vt:lpstr>
      <vt:lpstr>PowerPoint Presentation</vt:lpstr>
      <vt:lpstr>Player Motivation</vt:lpstr>
      <vt:lpstr>Feedback</vt:lpstr>
      <vt:lpstr>PowerPoint Presentation</vt:lpstr>
      <vt:lpstr>PowerPoint Presentation</vt:lpstr>
      <vt:lpstr>Game Feel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HP</cp:lastModifiedBy>
  <cp:revision>482</cp:revision>
  <dcterms:modified xsi:type="dcterms:W3CDTF">2026-04-23T04:27:57Z</dcterms:modified>
</cp:coreProperties>
</file>